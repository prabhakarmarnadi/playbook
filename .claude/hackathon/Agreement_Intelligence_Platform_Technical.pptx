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Agreement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58A6FF"/>
                </a:solidFill>
                <a:latin typeface="Segoe UI"/>
              </a:defRPr>
            </a:pPr>
            <a:r>
              <a:t>Technical Architecture &amp; Capabilities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B949E"/>
                </a:solidFill>
                <a:latin typeface="Segoe UI"/>
              </a:defRPr>
            </a:pPr>
            <a:r>
              <a:t>Clustering V2 — From flat topic clustering to deep contract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02920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9D1D9"/>
                </a:solidFill>
                <a:latin typeface="Segoe UI"/>
              </a:defRPr>
            </a:pPr>
            <a:r>
              <a:t>200 documents  •  136 clause types  •  6,184 chunks  •  48 eval metrics  •  15 interactive pages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Platform at a Glance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🚀 DISCOVER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Ingest → Embed → Cluster → Ontology</a:t>
            </a:r>
            <a:br/>
            <a:r>
              <a:t>Automatic document domain detection,</a:t>
            </a:r>
            <a:br/>
            <a:r>
              <a:t>clause-type clustering, ontology tree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18872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🔍 EXPLORE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Clause Library → Knowledge Graph → Search</a:t>
            </a:r>
            <a:br/>
            <a:r>
              <a:t>Deviation analysis, deal archetypes,</a:t>
            </a:r>
            <a:br/>
            <a:r>
              <a:t>BM25 + Dense + Cross-Encoder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118872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D29922"/>
                </a:solidFill>
                <a:latin typeface="Segoe UI"/>
              </a:defRPr>
            </a:pPr>
            <a:r>
              <a:t>✏️ AUTHOR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Example Sets → Extractions → Composites</a:t>
            </a:r>
            <a:br/>
            <a:r>
              <a:t>Cluster-conditioned LLM extraction,</a:t>
            </a:r>
            <a:br/>
            <a:r>
              <a:t>formula fields with cascade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18872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5149"/>
                </a:solidFill>
                <a:latin typeface="Segoe UI"/>
              </a:defRPr>
            </a:pPr>
            <a:r>
              <a:t>📊 ANALYZE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Dashboard → Risk → Pipeline Health</a:t>
            </a:r>
            <a:br/>
            <a:r>
              <a:t>7-category risk scoring, 48-metric eval,</a:t>
            </a:r>
            <a:br/>
            <a:r>
              <a:t>health score gauge with regression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1188720"/>
            <a:ext cx="21031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BC8CFF"/>
                </a:solidFill>
                <a:latin typeface="Segoe UI"/>
              </a:defRPr>
            </a:pPr>
            <a:r>
              <a:t>⚙️ CONFIGURE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Feedback &amp; Personalization</a:t>
            </a:r>
            <a:br/>
            <a:r>
              <a:t>Tenant-scoped sidecar DB, virtual clusters,</a:t>
            </a:r>
            <a:br/>
            <a:r>
              <a:t>adaptive thresholds, KG edge 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EVoC 0.3.1 (Embedding Vector Clustering)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Nomic nomic-embed-text-v1.5 (768-dim, CUDA)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Azure OpenAI gpt-5.4-mini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DuckDB 1.5.1 (analytics + storage)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NetworkX (knowledge graph)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FAISS + BM25 + Cross-Encoder (hybrid search)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2× NVIDIA A100 80GB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Pipeline Architecture — 9 Stages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11887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1. Parse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PDF → text extraction</a:t>
            </a:r>
            <a:br/>
            <a:r>
              <a:t>heading detection,</a:t>
            </a:r>
            <a:br/>
            <a:r>
              <a:t>clause boundary 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572768" y="1188720"/>
            <a:ext cx="11887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2. Chunk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Semantic chunking</a:t>
            </a:r>
            <a:br/>
            <a:r>
              <a:t>by clause boundaries</a:t>
            </a:r>
            <a:br/>
            <a:r>
              <a:t>(not sliding window)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871215" y="1188720"/>
            <a:ext cx="11887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3. Embed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Nomic 768-dim</a:t>
            </a:r>
            <a:br/>
            <a:r>
              <a:t>GPU batch embed</a:t>
            </a:r>
            <a:br/>
            <a:r>
              <a:t>L2-normalized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9663" y="1188720"/>
            <a:ext cx="11887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4. Cluster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EVoC multi-layer</a:t>
            </a:r>
            <a:br/>
            <a:r>
              <a:t>Optuna tuning</a:t>
            </a:r>
            <a:br/>
            <a:r>
              <a:t>(30 trials)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68112" y="1188720"/>
            <a:ext cx="11887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5. Merge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Topic dedup</a:t>
            </a:r>
            <a:br/>
            <a:r>
              <a:t>threshold=0.96</a:t>
            </a:r>
            <a:br/>
            <a:r>
              <a:t>synonym resolution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59" y="1188720"/>
            <a:ext cx="11887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6. Label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Azure OpenAI</a:t>
            </a:r>
            <a:br/>
            <a:r>
              <a:t>LLM-names each</a:t>
            </a:r>
            <a:br/>
            <a:r>
              <a:t>clause type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5008" y="1188720"/>
            <a:ext cx="11887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7. Fields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Per-cluster field</a:t>
            </a:r>
            <a:br/>
            <a:r>
              <a:t>discovery via LLM</a:t>
            </a:r>
            <a:br/>
            <a:r>
              <a:t>(type + description)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3456" y="1188720"/>
            <a:ext cx="11887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D29922"/>
                </a:solidFill>
                <a:latin typeface="Segoe UI"/>
              </a:defRPr>
            </a:pPr>
            <a:r>
              <a:t>8. Extract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Cluster-conditioned</a:t>
            </a:r>
            <a:br/>
            <a:r>
              <a:t>field extraction</a:t>
            </a:r>
            <a:br/>
            <a:r>
              <a:t>per agreement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661904" y="1188720"/>
            <a:ext cx="11887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D29922"/>
                </a:solidFill>
                <a:latin typeface="Segoe UI"/>
              </a:defRPr>
            </a:pPr>
            <a:r>
              <a:t>9. Intents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Dynamic intent</a:t>
            </a:r>
            <a:br/>
            <a:r>
              <a:t>discovery + registry</a:t>
            </a:r>
            <a:br/>
            <a:r>
              <a:t>+ party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83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  <a:latin typeface="Segoe UI"/>
              </a:defRPr>
            </a:pPr>
            <a:r>
              <a:t>Embedding ─────→  Clustering ─────→  LLM Enrichment ─────→ 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31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Key Design Choice: Clause-First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Documents parsed into individual clauses (not arbitrary chunks)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Each clause embedded independently → clause-level clusters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Clusters represent clause TYPES (Indemnification, Termination, NDA...)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Fields discovered per clause type → conditioned extraction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Intents extracted per clause → legal obligation graph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480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Hybrid mode: flat clause clustering + document-level domain overlay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Macro-micro mode: per-domain clause clustering (separate EVoC per domain)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EVoC replaces UMAP+HDBSCAN: no dimensionality reduction needed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Optuna tunes: noise_level, n_neighbors, min_cluster_size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Multi-layer output: picks best layer by composite quality score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58A6FF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Discover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Upload &amp; Process → Domains → Clause Types → Ontology Tree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🚀 Discover — 4 Pages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📤 Upload &amp; Process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• Load sample data or upload PDF/TXT files</a:t>
            </a:r>
            <a:br/>
            <a:r>
              <a:t>• Runs full 9-stage pipeline with live progress bar</a:t>
            </a:r>
            <a:br/>
            <a:r>
              <a:t>• Outputs: domains, clause types, field definitions, extractions</a:t>
            </a:r>
            <a:br/>
            <a:r>
              <a:t>• Pipeline callback system reports 9 stages with percentage</a:t>
            </a:r>
            <a:br/>
            <a:r>
              <a:t>• Uploaded files get deterministic agreement IDs (hash-based)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097280"/>
            <a:ext cx="530352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📁 Domain Explorer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• Bar chart: document distribution by domain (color = confidence)</a:t>
            </a:r>
            <a:br/>
            <a:r>
              <a:t>• Domain detail cards in 3 columns with agreement count</a:t>
            </a:r>
            <a:br/>
            <a:r>
              <a:t>• Per-domain agreement lists with confidence scores</a:t>
            </a:r>
            <a:br/>
            <a:r>
              <a:t>• Domains = macro clusters from document-level summary embeddings</a:t>
            </a:r>
            <a:br/>
            <a:r>
              <a:t>• Pure embedding clustering — no LLM calls needed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3657600"/>
            <a:ext cx="53035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💼 Clause Type Explorer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• Filter by domain → see clause types within each domain</a:t>
            </a:r>
            <a:br/>
            <a:r>
              <a:t>• 4 metrics: clause types, total chunks, avg quality, merged topics</a:t>
            </a:r>
            <a:br/>
            <a:r>
              <a:t>• Per-type expander: aliases, description, keywords, fields</a:t>
            </a:r>
            <a:br/>
            <a:r>
              <a:t>• Sample clauses (first 3) as read-only text areas</a:t>
            </a:r>
            <a:br/>
            <a:r>
              <a:t>• Quality = cosine similarity of members to centroid</a:t>
            </a:r>
            <a:br/>
            <a:r>
              <a:t>• Aliases = merged topic names from synonym resolution step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3657600"/>
            <a:ext cx="5303520" cy="25603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🌳 Ontology Tree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• Hierarchical view: Domains → Clause Types → Fields → Composites</a:t>
            </a:r>
            <a:br/>
            <a:r>
              <a:t>• Badges: merge status, chunk counts, quality, field coverage</a:t>
            </a:r>
            <a:br/>
            <a:r>
              <a:t>• Coverage = filled extractions / total per field</a:t>
            </a:r>
            <a:br/>
            <a:r>
              <a:t>• Optional raw JSON export of full ontology</a:t>
            </a:r>
            <a:br/>
            <a:r>
              <a:t>• Auto-generated from pipeline — zero manual configuration</a:t>
            </a:r>
            <a:br/>
            <a:r>
              <a:t>• Shows the complete schema discovered from raw documents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58A6FF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Explore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Clause Library → Knowledge Graph → Hybrid Search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📚 Clause Library &amp; Deviation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How standard — or unusual — is every clause and document?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📊 Clause Deviations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Deviation = 1 − cosine_similarity(chunk, centroid)</a:t>
            </a:r>
            <a:br/>
            <a:br/>
            <a:r>
              <a:t>• Histogram of deviation distribution</a:t>
            </a:r>
            <a:br/>
            <a:r>
              <a:t>• Strip plot: similarity by cluster</a:t>
            </a:r>
            <a:br/>
            <a:r>
              <a:t>• Top 20 outlier table</a:t>
            </a:r>
            <a:br/>
            <a:r>
              <a:t>• Expandable outlier cards</a:t>
            </a:r>
            <a:br/>
            <a:r>
              <a:t>• Filter by domain + cluster</a:t>
            </a:r>
            <a:br/>
            <a:r>
              <a:t>• Outlier threshold: 0.3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65760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📄 Document Conformity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Conformity = mean(similarity) × 100%</a:t>
            </a:r>
            <a:br/>
            <a:br/>
            <a:r>
              <a:t>• Per-document conformity bar chart</a:t>
            </a:r>
            <a:br/>
            <a:r>
              <a:t>• Size vs conformity scatter</a:t>
            </a:r>
            <a:br/>
            <a:r>
              <a:t>• Drill-down: clause similarity map</a:t>
            </a:r>
            <a:br/>
            <a:r>
              <a:t>  per position in document</a:t>
            </a:r>
            <a:br/>
            <a:r>
              <a:t>• 71.8% – 98.8% range across</a:t>
            </a:r>
            <a:br/>
            <a:r>
              <a:t>  200 documents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371600"/>
            <a:ext cx="347472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D29922"/>
                </a:solidFill>
                <a:latin typeface="Segoe UI"/>
              </a:defRPr>
            </a:pPr>
            <a:r>
              <a:t>📚 Clause Library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Browsable template library for authoring</a:t>
            </a:r>
            <a:br/>
            <a:br/>
            <a:r>
              <a:t>• 136 clause types as templates</a:t>
            </a:r>
            <a:br/>
            <a:r>
              <a:t>• 3-column exemplar view:</a:t>
            </a:r>
            <a:br/>
            <a:r>
              <a:t>  ✅ Most representative</a:t>
            </a:r>
            <a:br/>
            <a:r>
              <a:t>  📐 Median example</a:t>
            </a:r>
            <a:br/>
            <a:r>
              <a:t>  ⚠️ Most unusual</a:t>
            </a:r>
            <a:br/>
            <a:r>
              <a:t>• Keywords, intents, fields per 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8A6FF"/>
                </a:solidFill>
                <a:latin typeface="Segoe UI"/>
              </a:defRPr>
            </a:pPr>
            <a:r>
              <a:t>Production Stats: 6,184 chunks  |  Mean similarity: 0.877  |  Outliers (&gt;0.3): 15 (0.24%)  |  136 clause types  |  Document conformity: 71.8%–98.8%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80560"/>
            <a:ext cx="548640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BC8CFF"/>
                </a:solidFill>
                <a:latin typeface="Segoe UI"/>
              </a:defRPr>
            </a:pPr>
            <a:r>
              <a:t>🕸️ Knowledge Graph Explorer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Multi-relational graph: agreements × clause types × intents × parties</a:t>
            </a:r>
            <a:br/>
            <a:br/>
            <a:r>
              <a:t>• Deal Archetypes — community detection over intent fingerprints</a:t>
            </a:r>
            <a:br/>
            <a:r>
              <a:t>• Missing Intent Recommendations — co-occurrence statistics</a:t>
            </a:r>
            <a:br/>
            <a:r>
              <a:t>• Anomaly Detection — unusual intent combinations</a:t>
            </a:r>
            <a:br/>
            <a:r>
              <a:t>• Implication Rules — "if A then B at X%" conditional probabilities</a:t>
            </a:r>
            <a:br/>
            <a:r>
              <a:t>• NetworkX DiGraph with 6 edge types (CONTAINS, HOSTS, CO_OCCURS...)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480560"/>
            <a:ext cx="530352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🔎 Hybrid Search (3-Signal Retrieval)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BM25 (sparse) + FAISS (dense) + Cross-Encoder (reranker)</a:t>
            </a:r>
            <a:br/>
            <a:br/>
            <a:r>
              <a:t>• Query embedded via Nomic (search_query: prefix)</a:t>
            </a:r>
            <a:br/>
            <a:r>
              <a:t>• BM25Okapi for exact keyword matching</a:t>
            </a:r>
            <a:br/>
            <a:r>
              <a:t>• FAISS ANN for semantic similarity</a:t>
            </a:r>
            <a:br/>
            <a:r>
              <a:t>• Reciprocal Rank Fusion (RRF) combines rankings</a:t>
            </a:r>
            <a:br/>
            <a:r>
              <a:t>• Optional Cross-Encoder reranking for precision</a:t>
            </a:r>
            <a:br/>
            <a:r>
              <a:t>• Signal dominance indicator per result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58A6FF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Author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Example Sets → Extraction Compare → Composites → Field CRUD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✏️ Author — Schema Refinement &amp; Extraction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743200" cy="2743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📋 Example Set Review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Review + correct extractions</a:t>
            </a:r>
            <a:br/>
            <a:r>
              <a:t>for first 20 representative</a:t>
            </a:r>
            <a:br/>
            <a:r>
              <a:t>chunks per cluster.</a:t>
            </a:r>
            <a:br/>
            <a:br/>
            <a:r>
              <a:t>• Editable data table</a:t>
            </a:r>
            <a:br/>
            <a:r>
              <a:t>• Corrections become gold</a:t>
            </a:r>
            <a:br/>
            <a:r>
              <a:t>  examples for few-shot</a:t>
            </a:r>
            <a:br/>
            <a:r>
              <a:t>• Scale to full cluster button</a:t>
            </a:r>
            <a:br/>
            <a:r>
              <a:t>• LLM conditioned extraction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097280"/>
            <a:ext cx="2743200" cy="2743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⚖️ Extraction Comparison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V1 Generic vs V2 Conditioned</a:t>
            </a:r>
            <a:br/>
            <a:r>
              <a:t>side-by-side on same clause.</a:t>
            </a:r>
            <a:br/>
            <a:br/>
            <a:r>
              <a:t>• V1: "Extract fields from text"</a:t>
            </a:r>
            <a:br/>
            <a:r>
              <a:t>  → hallucination-prone</a:t>
            </a:r>
            <a:br/>
            <a:r>
              <a:t>• V2: "This is a [type] clause.</a:t>
            </a:r>
            <a:br/>
            <a:r>
              <a:t>  Extract: [specific fields]"</a:t>
            </a:r>
            <a:br/>
            <a:r>
              <a:t>• Metrics: fields found,</a:t>
            </a:r>
            <a:br/>
            <a:r>
              <a:t>  hallucinated, tokens, 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097280"/>
            <a:ext cx="2743200" cy="2743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🧮 Composite Fields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Formula fields with cascading</a:t>
            </a:r>
            <a:br/>
            <a:r>
              <a:t>dependency resolution.</a:t>
            </a:r>
            <a:br/>
            <a:br/>
            <a:r>
              <a:t>• TCV = price × qty × years</a:t>
            </a:r>
            <a:br/>
            <a:r>
              <a:t>• DAG cycle detection</a:t>
            </a:r>
            <a:br/>
            <a:r>
              <a:t>• Animated cascade demo:</a:t>
            </a:r>
            <a:br/>
            <a:r>
              <a:t>  change a base field → see</a:t>
            </a:r>
            <a:br/>
            <a:r>
              <a:t>  all downstream updates</a:t>
            </a:r>
            <a:br/>
            <a:r>
              <a:t>• Zero LLM cost — pure math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097280"/>
            <a:ext cx="2286000" cy="2743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✏️ Field CRUD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Full schema ownership.</a:t>
            </a:r>
            <a:br/>
            <a:br/>
            <a:r>
              <a:t>• Rename, retype, describe</a:t>
            </a:r>
            <a:br/>
            <a:r>
              <a:t>• Add gold examples</a:t>
            </a:r>
            <a:br/>
            <a:r>
              <a:t>• Create new fields</a:t>
            </a:r>
            <a:br/>
            <a:r>
              <a:t>• Delete unwanted fields</a:t>
            </a:r>
            <a:br/>
            <a:r>
              <a:t>• Types: string, int,</a:t>
            </a:r>
            <a:br/>
            <a:r>
              <a:t>  float, date, enum, bool</a:t>
            </a:r>
            <a:br/>
            <a:r>
              <a:t>• Source tracking:</a:t>
            </a:r>
            <a:br/>
            <a:r>
              <a:t>  auto vs user-modified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Key Technical Insight: Cluster-Conditioned Extraction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66344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V1 sends entire document + generic prompt → LLM hallucinates fields that don't exist in the clause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V2 knows the clause type first → only asks for fields relevant to THAT type → fewer tokens, zero hallucinations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Corrections stored as gold examples → injected as few-shot in future extractions (compounding improvement)</a:t>
            </a:r>
          </a:p>
          <a:p>
            <a:pPr>
              <a:spcAft>
                <a:spcPts val="600"/>
              </a:spcAft>
              <a:defRPr sz="1400">
                <a:solidFill>
                  <a:srgbClr val="C9D1D9"/>
                </a:solidFill>
                <a:latin typeface="Segoe UI"/>
              </a:defRPr>
            </a:pPr>
            <a:r>
              <a:t>Composite fields are pure arithmetic over extracted values — no LLM needed, instant cascade propagation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58A6FF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Analyze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Dashboard → Risk &amp; Portfolio → Pipeline Health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📊 Analyze — Risk, Health &amp; Portfolio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2743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📊 Dashboard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Live system overview.</a:t>
            </a:r>
            <a:br/>
            <a:br/>
            <a:r>
              <a:t>• 8 KPI metrics: domains, agreements,</a:t>
            </a:r>
            <a:br/>
            <a:r>
              <a:t>  clusters, fields, extractions,</a:t>
            </a:r>
            <a:br/>
            <a:r>
              <a:t>  corrections, composites, avg coverage</a:t>
            </a:r>
            <a:br/>
            <a:r>
              <a:t>• Donut: documents by domain</a:t>
            </a:r>
            <a:br/>
            <a:r>
              <a:t>• Bar: cluster quality scores by domain</a:t>
            </a:r>
            <a:br/>
            <a:r>
              <a:t>  (threshold line at 0.8)</a:t>
            </a:r>
            <a:br/>
            <a:r>
              <a:t>• Grouped bar: field coverage by cluster</a:t>
            </a:r>
            <a:br/>
            <a:r>
              <a:t>• Corrections log (last 20)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097280"/>
            <a:ext cx="3657600" cy="2743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5149"/>
                </a:solidFill>
                <a:latin typeface="Segoe UI"/>
              </a:defRPr>
            </a:pPr>
            <a:r>
              <a:t>🛡️ Risk &amp; Portfolio Analysis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7 categories × 4 severity levels.</a:t>
            </a:r>
            <a:br/>
            <a:br/>
            <a:r>
              <a:t>Categories: liability, IP, termination,</a:t>
            </a:r>
            <a:br/>
            <a:r>
              <a:t>compliance, financial, confidentiality,</a:t>
            </a:r>
            <a:br/>
            <a:r>
              <a:t>operational</a:t>
            </a:r>
            <a:br/>
            <a:br/>
            <a:r>
              <a:t>• Heuristic (instant) or LLM (with rationale)</a:t>
            </a:r>
            <a:br/>
            <a:r>
              <a:t>• Portfolio heatmap: category × severity</a:t>
            </a:r>
            <a:br/>
            <a:r>
              <a:t>• Per-agreement risk profiles</a:t>
            </a:r>
            <a:br/>
            <a:r>
              <a:t>• Expandable reasoning cards with</a:t>
            </a:r>
            <a:br/>
            <a:r>
              <a:t>  LLM-generated rationale + evidence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097280"/>
            <a:ext cx="3474720" cy="27432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🏥 Pipeline Health &amp; Eval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48 metrics, 1 gold number.</a:t>
            </a:r>
            <a:br/>
            <a:br/>
            <a:r>
              <a:t>★ Health Score: 0.8954 (Excellent)</a:t>
            </a:r>
            <a:br/>
            <a:br/>
            <a:r>
              <a:t>Formula:</a:t>
            </a:r>
            <a:br/>
            <a:r>
              <a:t>  Quality × 0.4</a:t>
            </a:r>
            <a:br/>
            <a:r>
              <a:t>+ Coverage × 0.3</a:t>
            </a:r>
            <a:br/>
            <a:r>
              <a:t>+ Structure × 0.2</a:t>
            </a:r>
            <a:br/>
            <a:r>
              <a:t>+ Consistency × 0.1</a:t>
            </a:r>
            <a:br/>
            <a:br/>
            <a:r>
              <a:t>• Gauge chart with 4 color zones</a:t>
            </a:r>
            <a:br/>
            <a:r>
              <a:t>• Regression detection vs baseline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1148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Risk Scoring: Two Modes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4663440"/>
            <a:ext cx="5486400" cy="18288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D29922"/>
                </a:solidFill>
                <a:latin typeface="Segoe UI"/>
              </a:defRPr>
            </a:pPr>
            <a:r>
              <a:t>⚡ Heuristic (instant, no LLM)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• Keyword matching against 60+ risk indicator terms</a:t>
            </a:r>
            <a:br/>
            <a:r>
              <a:t>• Category assignment: if 'indemnif' in text → liability</a:t>
            </a:r>
            <a:br/>
            <a:r>
              <a:t>• Severity from keyword severity tiers</a:t>
            </a:r>
            <a:br/>
            <a:r>
              <a:t>• Rationale: 'Matched N keywords for category'</a:t>
            </a:r>
            <a:br/>
            <a:r>
              <a:t>• Good for fast triage, not for client-facing reports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663440"/>
            <a:ext cx="5486400" cy="18288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🧠 LLM Deep Score (with reasoning)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• Full prompt with clause type + description + sample text</a:t>
            </a:r>
            <a:br/>
            <a:r>
              <a:t>• GPT-5.4-mini generates category + severity + rationale</a:t>
            </a:r>
            <a:br/>
            <a:r>
              <a:t>• Example: 'The clause makes the guarantor directly</a:t>
            </a:r>
            <a:br/>
            <a:r>
              <a:t>  responsible for the borrower's loan obligations,</a:t>
            </a:r>
            <a:br/>
            <a:r>
              <a:t>  creating a broad and potentially uncapped payment liability'</a:t>
            </a:r>
            <a:br/>
            <a:r>
              <a:t>• Expandable evidence cards with source clause text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58A6FF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Configure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B949E"/>
                </a:solidFill>
                <a:latin typeface="Segoe UI"/>
              </a:defRPr>
            </a:pPr>
            <a:r>
              <a:t>Feedback &amp; Personalization Engine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⚙️ Feedback &amp; Personalization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B949E"/>
                </a:solidFill>
                <a:latin typeface="Segoe UI"/>
              </a:defRPr>
            </a:pPr>
            <a:r>
              <a:t>Every correction makes the system smarter — for YOUR organization.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3657600" cy="18288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BC8CFF"/>
                </a:solidFill>
                <a:latin typeface="Segoe UI"/>
              </a:defRPr>
            </a:pPr>
            <a:r>
              <a:t>Architecture: Sidecar DB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• Core ontology DB stays clean (global truth)</a:t>
            </a:r>
            <a:br/>
            <a:r>
              <a:t>• Per-tenant sidecar: {tenant}.feedback.duckdb</a:t>
            </a:r>
            <a:br/>
            <a:r>
              <a:t>• 6 tables: feedback_events, weights,</a:t>
            </a:r>
            <a:br/>
            <a:r>
              <a:t>  virtual_clusters, virtual_assignments,</a:t>
            </a:r>
            <a:br/>
            <a:r>
              <a:t>  intent_overrides, tenant_config</a:t>
            </a:r>
            <a:br/>
            <a:r>
              <a:t>• Temporal decay: half-life 90 days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1371600"/>
            <a:ext cx="3657600" cy="18288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4 Injection Points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1. Cluster Assignment — tenant thresholds</a:t>
            </a:r>
            <a:br/>
            <a:r>
              <a:t>   + virtual cluster centroids</a:t>
            </a:r>
            <a:br/>
            <a:r>
              <a:t>2. Intent Extraction — few-shot correction</a:t>
            </a:r>
            <a:br/>
            <a:r>
              <a:t>   examples + label overrides</a:t>
            </a:r>
            <a:br/>
            <a:r>
              <a:t>3. Knowledge Graph — edge weight</a:t>
            </a:r>
            <a:br/>
            <a:r>
              <a:t>   multipliers (link +0.2 / unlink −0.3)</a:t>
            </a:r>
            <a:br/>
            <a:r>
              <a:t>4. Outlier Handling — tenant-specific</a:t>
            </a:r>
            <a:br/>
            <a:r>
              <a:t>   min_similarity threshold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321040" y="1371600"/>
            <a:ext cx="3474720" cy="18288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7 Interactive Tabs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• Overview: metrics + feedback chart</a:t>
            </a:r>
            <a:br/>
            <a:r>
              <a:t>• Cluster Corrections: move chunks</a:t>
            </a:r>
            <a:br/>
            <a:r>
              <a:t>• Intent Overrides: label mapping</a:t>
            </a:r>
            <a:br/>
            <a:r>
              <a:t>• KG Edge Tuning: strengthen/weaken</a:t>
            </a:r>
            <a:br/>
            <a:r>
              <a:t>• Virtual Clusters: create + promote</a:t>
            </a:r>
            <a:br/>
            <a:r>
              <a:t>• Thresholds: 5 sliders + auto-tune</a:t>
            </a:r>
            <a:br/>
            <a:r>
              <a:t>• Feedback Log: filter + CSV export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Personalization 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31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User correction → FeedbackStore records event + updates weight matrix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Weight matrix: action-specific deltas (correct: −0.15, reject: −0.25, approve: +0.10)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PersonalizationEngine reads weights → builds PersonalizationContext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Context carries: edge_weights, cluster_weights, virtual_clusters, intent_overrides, thresholds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PersonalizationInjector intercepts pipeline calls with tenant-specific behavior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Virtual clusters: tenant-specific groupings that can be promoted (compute centroid → auto-assign)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Auto-tune: feedback pattern analysis → automatic threshold adjustment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39319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Cluster correction → creates virtual cluster OR adjusts weight of existing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Intent correction → few-shot example injected into prompt + label override post-extraction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Edge correction → multiplier stored: link boosts weight 1.2×, unlink penalizes 0.7×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Approval → positive signal, boosts confidence in pipeline output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All corrections are OVERLAYS — core ontology never mutated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Tenant isolation: each org sees only their corrections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Exponential decay: old corrections lose influence (configurable half-life)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Evaluation Framework — 48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74320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Clustering (8 metrics)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• avg_coherence, min_coherence</a:t>
            </a:r>
            <a:br/>
            <a:r>
              <a:t>• silhouette_score</a:t>
            </a:r>
            <a:br/>
            <a:r>
              <a:t>• dbcv (density-based validity)</a:t>
            </a:r>
            <a:br/>
            <a:r>
              <a:t>• outlier_ratio</a:t>
            </a:r>
            <a:br/>
            <a:r>
              <a:t>• singleton_ratio</a:t>
            </a:r>
            <a:br/>
            <a:r>
              <a:t>• z_score, adjusted_score</a:t>
            </a:r>
            <a:br/>
            <a:r>
              <a:t>• dominance_penalty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097280"/>
            <a:ext cx="274320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System (12 metrics)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• clauses_typed_ratio</a:t>
            </a:r>
            <a:br/>
            <a:r>
              <a:t>• intents_per_clause</a:t>
            </a:r>
            <a:br/>
            <a:r>
              <a:t>• extraction_coverage</a:t>
            </a:r>
            <a:br/>
            <a:r>
              <a:t>• ontology_completeness</a:t>
            </a:r>
            <a:br/>
            <a:r>
              <a:t>• neighbor_label_consistency</a:t>
            </a:r>
            <a:br/>
            <a:r>
              <a:t>• cross_domain_leakage</a:t>
            </a:r>
            <a:br/>
            <a:r>
              <a:t>• field_type_diversity</a:t>
            </a:r>
            <a:br/>
            <a:r>
              <a:t>• ... + 5 more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92240" y="1097280"/>
            <a:ext cx="274320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D29922"/>
                </a:solidFill>
                <a:latin typeface="Segoe UI"/>
              </a:defRPr>
            </a:pPr>
            <a:r>
              <a:t>Health Score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★ 0.8954 (Excellent)</a:t>
            </a:r>
            <a:br/>
            <a:br/>
            <a:r>
              <a:t>Quality    × 0.4 = 0.366</a:t>
            </a:r>
            <a:br/>
            <a:r>
              <a:t>Coverage   × 0.3 = 0.288</a:t>
            </a:r>
            <a:br/>
            <a:r>
              <a:t>Structure  × 0.2 = 0.154</a:t>
            </a:r>
            <a:br/>
            <a:r>
              <a:t>Consistency × 0.1 = 0.087</a:t>
            </a:r>
            <a:br/>
            <a:br/>
            <a:r>
              <a:t>Grades: ≥0.85 Excellent</a:t>
            </a:r>
            <a:br/>
            <a:r>
              <a:t>≥0.70 Good, &lt;0.50 Broken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509760" y="1097280"/>
            <a:ext cx="2286000" cy="20116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F85149"/>
                </a:solidFill>
                <a:latin typeface="Segoe UI"/>
              </a:defRPr>
            </a:pPr>
            <a:r>
              <a:t>Regression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• Baseline JSON snapshot</a:t>
            </a:r>
            <a:br/>
            <a:r>
              <a:t>• Per-metric delta check</a:t>
            </a:r>
            <a:br/>
            <a:r>
              <a:t>• Hard thresholds for</a:t>
            </a:r>
            <a:br/>
            <a:r>
              <a:t>  critical metrics</a:t>
            </a:r>
            <a:br/>
            <a:r>
              <a:t>• ✅/❌ status per metric</a:t>
            </a:r>
            <a:br/>
            <a:r>
              <a:t>• Catches degradation</a:t>
            </a:r>
            <a:br/>
            <a:r>
              <a:t>  on re-runs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83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Optional Extensions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840480"/>
            <a:ext cx="5486400" cy="16459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BC8CFF"/>
                </a:solidFill>
                <a:latin typeface="Segoe UI"/>
              </a:defRPr>
            </a:pPr>
            <a:r>
              <a:t>🧑‍⚖️ LLM-as-Judge (Intent Quality)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• GPT-5.4-mini evaluates intent faithfulness &amp; actionability</a:t>
            </a:r>
            <a:br/>
            <a:r>
              <a:t>• Scores 1–5 with written justification</a:t>
            </a:r>
            <a:br/>
            <a:r>
              <a:t>• Batch mode: sample 50 intents, score all</a:t>
            </a:r>
            <a:br/>
            <a:r>
              <a:t>• Metrics: faithfulness_below_3_pct, actionability_below_3_pct,</a:t>
            </a:r>
            <a:br/>
            <a:r>
              <a:t>  hallucination_rate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840480"/>
            <a:ext cx="5486400" cy="164592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📋 Gold Standard Set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• Bootstrap: auto-generate 50-doc gold set from pipeline output</a:t>
            </a:r>
            <a:br/>
            <a:r>
              <a:t>• Expert annotation: clause labels, field values, intent triples</a:t>
            </a:r>
            <a:br/>
            <a:r>
              <a:t>• Enables: cluster label F1, field extraction precision/recall,</a:t>
            </a:r>
            <a:br/>
            <a:r>
              <a:t>  intent exact match</a:t>
            </a:r>
            <a:br/>
            <a:r>
              <a:t>• Strategy doc: GOLD_SET_STRATEGY.md with annotation guidelines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Data Flow &amp; Storage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65760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📦 Main Pipeline DB  (DuckDB)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14 tables — single file, ACID, columnar</a:t>
            </a:r>
            <a:br/>
            <a:br/>
            <a:r>
              <a:t>• domains, agreements, chunks, clauses</a:t>
            </a:r>
            <a:br/>
            <a:r>
              <a:t>• clusters, cluster_assignments, cluster_centroids</a:t>
            </a:r>
            <a:br/>
            <a:r>
              <a:t>• field_definitions, extractions, corrections</a:t>
            </a:r>
            <a:br/>
            <a:r>
              <a:t>• composite_definitions</a:t>
            </a:r>
            <a:br/>
            <a:r>
              <a:t>• intent_types, clause_intents</a:t>
            </a:r>
            <a:br/>
            <a:r>
              <a:t>• pipeline_runs, novel_documents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097280"/>
            <a:ext cx="365760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BC8CFF"/>
                </a:solidFill>
                <a:latin typeface="Segoe UI"/>
              </a:defRPr>
            </a:pPr>
            <a:r>
              <a:t>💾 Sidecar Feedback DB  (per-tenant)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{tenant_id}.feedback.duckdb — 6 tables</a:t>
            </a:r>
            <a:br/>
            <a:br/>
            <a:r>
              <a:t>• feedback_events (unified log)</a:t>
            </a:r>
            <a:br/>
            <a:r>
              <a:t>• personalization_weights (weight matrix)</a:t>
            </a:r>
            <a:br/>
            <a:r>
              <a:t>• virtual_clusters (tenant-only clusters)</a:t>
            </a:r>
            <a:br/>
            <a:r>
              <a:t>• virtual_assignments (chunk → vc mapping)</a:t>
            </a:r>
            <a:br/>
            <a:r>
              <a:t>• intent_overrides (label preferences)</a:t>
            </a:r>
            <a:br/>
            <a:r>
              <a:t>• tenant_config (threshold overrides)</a:t>
            </a:r>
            <a:br/>
            <a:br/>
            <a:r>
              <a:t>Never pollutes core ontology.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321040" y="1097280"/>
            <a:ext cx="3474720" cy="22860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📊 Analytics Tables  (in main DB)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Created by analytics modules:</a:t>
            </a:r>
            <a:br/>
            <a:br/>
            <a:r>
              <a:t>• cluster_risks (7 categories × severity)</a:t>
            </a:r>
            <a:br/>
            <a:r>
              <a:t>• agreement_risks (portfolio profiles)</a:t>
            </a:r>
            <a:br/>
            <a:r>
              <a:t>• playbook_benchmarks (standard clauses)</a:t>
            </a:r>
            <a:br/>
            <a:r>
              <a:t>• playbook_scores (deviation from std)</a:t>
            </a:r>
            <a:br/>
            <a:br/>
            <a:r>
              <a:t>All computed post-pipeline.</a:t>
            </a:r>
            <a:br/>
            <a:r>
              <a:t>Can be re-run independently.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Embedding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Model: nomic-ai/nomic-embed-text-v1.5 (768-dim)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Device: CUDA (2× A100 80GB)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Task prefixes: 'search_document:', 'search_query:', 'clustering:', 'classification:'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Matryoshka: supports 256/512/768 dim truncation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L2-normalized → cosine similarity = dot product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Stored as float32 BLOB in DuckDB chunks.embedding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11480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Clause embeddings: full clause text, 'clustering:' prefix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Document summaries: LLM-generated summary, 'search_document:' prefix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Query embeddings: 'search_query:' prefix for hybrid search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Cluster centroids: mean of member embeddings, re-normalized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Deviation = 1 − dot(chunk_embedding, centroid)</a:t>
            </a:r>
          </a:p>
          <a:p>
            <a:pPr>
              <a:spcAft>
                <a:spcPts val="600"/>
              </a:spcAft>
              <a:defRPr sz="1300">
                <a:solidFill>
                  <a:srgbClr val="C9D1D9"/>
                </a:solidFill>
                <a:latin typeface="Segoe UI"/>
              </a:defRPr>
            </a:pPr>
            <a:r>
              <a:t>FAISS index built from all chunk embeddings at search page load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Production Results — 200 Documents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737360" cy="10972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200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Documents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377440" y="1097280"/>
            <a:ext cx="1737360" cy="10972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136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Clause Types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097280"/>
            <a:ext cx="1737360" cy="10972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6,184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Chunks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1737360" cy="10972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1,400+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Fields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097280"/>
            <a:ext cx="1737360" cy="10972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3FB950"/>
                </a:solidFill>
                <a:latin typeface="Segoe UI"/>
              </a:defRPr>
            </a:pPr>
            <a:r>
              <a:t>11,000+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Intents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0" y="1097280"/>
            <a:ext cx="1737360" cy="109728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D29922"/>
                </a:solidFill>
                <a:latin typeface="Segoe UI"/>
              </a:defRPr>
            </a:pPr>
            <a:r>
              <a:t>0.8954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Health Score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468880"/>
            <a:ext cx="3566160" cy="13716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Avg Cluster Coherence: 0.877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Cosine similarity to centroid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2468880"/>
            <a:ext cx="3566160" cy="13716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Outlier Ratio: 0.24%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Only 15/6184 chunks deviate &gt;0.3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468880"/>
            <a:ext cx="3566160" cy="13716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Document Conformity: 71.8% – 98.8%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How standard each contract 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114800"/>
            <a:ext cx="3566160" cy="13716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Pipeline Health: 0.8954 Excellent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Quality×0.4 + Coverage×0.3 + Structure×0.2 + Consistency×0.1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80" y="4114800"/>
            <a:ext cx="3566160" cy="13716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Risk Coverage: 136 clause types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7 categories × 4 severity levels, LLM rationale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4114800"/>
            <a:ext cx="3566160" cy="1371600"/>
          </a:xfrm>
          <a:prstGeom prst="roundRect">
            <a:avLst/>
          </a:prstGeom>
          <a:solidFill>
            <a:srgbClr val="161B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/>
          <a:lstStyle/>
          <a:p>
            <a:pPr algn="ctr">
              <a:spcAft>
                <a:spcPts val="400"/>
              </a:spcAft>
              <a:defRPr sz="1400" b="1">
                <a:solidFill>
                  <a:srgbClr val="58A6FF"/>
                </a:solidFill>
                <a:latin typeface="Segoe UI"/>
              </a:defRPr>
            </a:pPr>
            <a:r>
              <a:t>KG Nodes/Edges: 198 agr + 136 ct + 500+ it</a:t>
            </a:r>
          </a:p>
          <a:p>
            <a:pPr>
              <a:defRPr sz="1100">
                <a:solidFill>
                  <a:srgbClr val="C9D1D9"/>
                </a:solidFill>
                <a:latin typeface="Segoe UI"/>
              </a:defRPr>
            </a:pPr>
            <a:r>
              <a:t>Multi-relational graph with 6 edge types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Segoe UI"/>
              </a:defRPr>
            </a:pPr>
            <a:r>
              <a:t>Agreement Intelligence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8A6FF"/>
                </a:solidFill>
                <a:latin typeface="Segoe UI"/>
              </a:defRPr>
            </a:pPr>
            <a:r>
              <a:t>From flat topic clustering to deep contract understanding.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8404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Segoe UI"/>
              </a:defRPr>
            </a:pPr>
            <a:r>
              <a:t>9-stage pipeline: Parse → Chunk → Embed → Cluster → Merge → Label → Fields → Extract → Intents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Segoe UI"/>
              </a:defRPr>
            </a:pPr>
            <a:r>
              <a:t>15 interactive pages across 5 sections: Discover → Explore → Author → Analyze → Configure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Segoe UI"/>
              </a:defRPr>
            </a:pPr>
            <a:r>
              <a:t>EVoC clustering + Nomic embeddings + Azure OpenAI — end-to-end on 2× A100 GPUs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Segoe UI"/>
              </a:defRPr>
            </a:pPr>
            <a:r>
              <a:t>48 evaluation metrics with regression detection and health score tracking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Segoe UI"/>
              </a:defRPr>
            </a:pPr>
            <a:r>
              <a:t>Tenant-scoped personalization: every correction compounds into smarter extraction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Segoe UI"/>
              </a:defRPr>
            </a:pPr>
            <a:r>
              <a:t>Clause library + deviation analysis: know exactly how standard every clause is</a:t>
            </a:r>
          </a:p>
          <a:p>
            <a:pPr>
              <a:spcAft>
                <a:spcPts val="600"/>
              </a:spcAft>
              <a:defRPr sz="1600">
                <a:solidFill>
                  <a:srgbClr val="C9D1D9"/>
                </a:solidFill>
                <a:latin typeface="Segoe UI"/>
              </a:defRPr>
            </a:pPr>
            <a:r>
              <a:t>Risk scoring with LLM-generated reasoning traces per clause type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